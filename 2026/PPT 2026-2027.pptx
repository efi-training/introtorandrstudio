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2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B9E6-41B5-6F16-24B2-ACE851F75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C55AF-93EC-5479-BC41-0737CA769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1234-21A0-FCFC-91C4-E3434CC5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D73D-2A97-01EC-90F1-279B89C5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9E46A-73E8-FAB0-349C-6C0BBF76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92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A9A3-7D18-A4DE-2948-724DBF58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BC4B7-648B-C0E5-4775-A21B6AA9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3B794-59CF-88D0-DEF0-EDEDC26C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0420C-145A-6130-FEC0-4806C207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DE723-6721-5CB2-55CE-178F3E65A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889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4743-8104-873B-BB55-9FAC0878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9B24D-8F55-949C-3068-F9E31F1E0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9F25-2D52-E2A7-4DBE-86E8D259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BDC7-B2E7-CF22-DFFB-CB508027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68993-2C7B-62AD-FBBF-795AAD0A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16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1570-8417-9D72-2ADE-6A0C4179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383D3-DF83-1BF4-9C89-FAB9C8CC8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A6F84-93D5-D96C-444C-4AC7FA2FF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65421-52C9-4C70-1B11-C24FC12C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223AB-6CA7-7C27-8DF1-79059BD1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20B0D-6474-3729-0790-31014F8E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85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FD95-E426-959A-FED7-BA4D622E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9CB84-E175-A73C-FD24-826FBE92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146E1-7B81-CD9D-FE5C-AFB385F4D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8584D-FC2D-25F5-D2F4-0A105C6A6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33E66-8513-BA9C-9E4C-E89F3ABAE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C6BB6-31B2-215D-A433-6730C007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B40CE-1A3D-DF69-ADC2-2D5A4AB9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8CDBA-2004-0DAE-F186-A6F38411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71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9B21-2244-45C9-9809-ED872BEB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18320-827F-8F43-CD02-1EDEC011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CEB90-BA84-30A7-E633-13095B59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A9B79-545A-D3EE-03E1-A63B7CC5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02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9E38D-539C-4AE6-CBAB-8CCBFD50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BEDAA-DADA-59D6-5CB0-68294B55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D0B0A-D0B5-D7EF-D1B6-79405304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F73E-4DD0-EA24-7F22-2583137C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F92F-167F-7698-ACE9-EB6F40F19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CE586-4D3F-C1AD-E771-D8D06D7AF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20963-E8D1-8A12-1683-C45C07EE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3F9FF-DF86-04A7-9CFD-2D7FA1A3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F7628-928B-8107-02FF-50BA866B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4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3F5F-89FB-188D-CA55-6CC8BAFD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7B888-2ED2-A235-090D-667CA4155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1F6E6-4D1E-AD1E-773E-62DAC64DF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C17ED-E2E6-A807-18CF-0DDE7ECE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C9981-3292-3C5F-6A8B-C3DA3321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C3D-0BA4-A87C-BFD7-E5B29EE4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42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EF78-8F64-A093-F5C8-6B4DDD8C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662DF-F3C5-BA23-C189-76382E33B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581A8-C648-834D-659C-0A44B794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D5DD-AA1E-D738-02D9-0E6DB42B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77948-80ED-C536-36C5-C03C6BC4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442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9F81D-B58E-BD67-828B-01A3155E7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EFBF2-C8E1-5E68-02EE-B9033FAFB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E486C-C52D-88E3-5CAB-02897519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72369-AE19-C15C-2E80-8ED3CCEF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F668D-48AA-155B-F22F-F07C7850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35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AF06F-B1CF-6803-537E-C28E7F642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C4443-D100-6B34-06AE-BE9B82D4F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F910-858F-931D-DC1E-C7B2521DD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36A3B-FA2A-4596-96C6-F604F54FACC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18BC6-2E9E-03EE-BFBB-5386F96CD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9405-2110-5ACC-3E49-C8BBAFEF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0F3B5-68A0-4DA9-B0D6-4F48C007BC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79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-project.org/about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studio.com/products/rstudio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yverse.org/" TargetMode="External"/><Relationship Id="rId2" Type="http://schemas.openxmlformats.org/officeDocument/2006/relationships/hyperlink" Target="https://support.rstudio.com/hc/en-us/articles/201057987-Quick-list-of-useful-R-packages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hyperlink" Target="https://github.com/rstudio/cheatsheets/blob/main/data-transformation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cheatsheets/html/data-transformation.html?_gl=1*1j10rah*_ga*MTA3MzgzMTk5Ny4xNzU4MzE4Mjk1*_ga_2C0WZ1JHG0*czE3NTgzMTgyOTQkbzEkZzEkdDE3NTgzMTg0NDUkajEzJGwwJGgw" TargetMode="External"/><Relationship Id="rId2" Type="http://schemas.openxmlformats.org/officeDocument/2006/relationships/hyperlink" Target="https://r4ds.hadley.nz/workflow-scripts.html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626B7C-294E-ADAB-ED24-2D4288C5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289"/>
            <a:ext cx="10515600" cy="1325563"/>
          </a:xfrm>
        </p:spPr>
        <p:txBody>
          <a:bodyPr/>
          <a:lstStyle/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GETTING STARTED WITH R FOR RESEARCH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E1D09-3BBA-E08C-457D-C75C3E6A3B4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1" y="524597"/>
            <a:ext cx="2943225" cy="73501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19BC96-5D28-37A6-491D-854F65533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" y="4653280"/>
            <a:ext cx="12190996" cy="220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3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A8CE256-D4B6-0E21-39E5-C39C1CB794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9" r="11343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8765434-7ECE-3555-9488-9D280D27D891}"/>
              </a:ext>
            </a:extLst>
          </p:cNvPr>
          <p:cNvSpPr txBox="1">
            <a:spLocks/>
          </p:cNvSpPr>
          <p:nvPr/>
        </p:nvSpPr>
        <p:spPr>
          <a:xfrm>
            <a:off x="677333" y="609600"/>
            <a:ext cx="385112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Before Starting…</a:t>
            </a:r>
          </a:p>
        </p:txBody>
      </p:sp>
      <p:sp>
        <p:nvSpPr>
          <p:cNvPr id="10" name="Google Shape;115;p4">
            <a:extLst>
              <a:ext uri="{FF2B5EF4-FFF2-40B4-BE49-F238E27FC236}">
                <a16:creationId xmlns:a16="http://schemas.microsoft.com/office/drawing/2014/main" id="{5F339796-43D9-3455-B066-19640A24E6FC}"/>
              </a:ext>
            </a:extLst>
          </p:cNvPr>
          <p:cNvSpPr txBox="1"/>
          <p:nvPr/>
        </p:nvSpPr>
        <p:spPr>
          <a:xfrm>
            <a:off x="677334" y="1930400"/>
            <a:ext cx="3851122" cy="388077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77500" lnSpcReduction="2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 The Workshop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Format: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Work through code together on R Studio – discuss questions as we go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Learning outcomes: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Get a basic understanding of how to use R and RStudio to read and modify data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Two parts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nb-NO" sz="2100" b="0" i="0" dirty="0">
                <a:solidFill>
                  <a:srgbClr val="0070C0"/>
                </a:solidFill>
                <a:effectLst/>
                <a:latin typeface="IntegralCF-Regular"/>
              </a:rPr>
              <a:t>25/</a:t>
            </a:r>
            <a:r>
              <a:rPr lang="nb-NO" sz="2100" dirty="0">
                <a:solidFill>
                  <a:srgbClr val="0070C0"/>
                </a:solidFill>
                <a:latin typeface="IntegralCF-Regular"/>
              </a:rPr>
              <a:t>09</a:t>
            </a:r>
            <a:r>
              <a:rPr lang="nb-NO" sz="2100" b="0" i="0" dirty="0">
                <a:solidFill>
                  <a:srgbClr val="0070C0"/>
                </a:solidFill>
                <a:effectLst/>
                <a:latin typeface="IntegralCF-Regular"/>
              </a:rPr>
              <a:t>/25, 14:00 – 16:00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Introduction to R and RStudio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100" dirty="0">
                <a:solidFill>
                  <a:srgbClr val="0070C0"/>
                </a:solidFill>
                <a:latin typeface="IntegralCF-Regular"/>
              </a:rPr>
              <a:t>02/10/25</a:t>
            </a:r>
            <a:r>
              <a:rPr lang="en-US" sz="2100" b="0" i="0" dirty="0">
                <a:solidFill>
                  <a:srgbClr val="0070C0"/>
                </a:solidFill>
                <a:effectLst/>
                <a:latin typeface="IntegralCF-Regular"/>
              </a:rPr>
              <a:t>, </a:t>
            </a:r>
            <a:r>
              <a:rPr lang="en-US" sz="2100" dirty="0">
                <a:solidFill>
                  <a:srgbClr val="0070C0"/>
                </a:solidFill>
                <a:latin typeface="IntegralCF-Regular"/>
              </a:rPr>
              <a:t>14:00 – 16:00</a:t>
            </a:r>
            <a:endParaRPr lang="en-US" sz="2100" b="0" i="0" dirty="0">
              <a:solidFill>
                <a:srgbClr val="0070C0"/>
              </a:solidFill>
              <a:effectLst/>
              <a:latin typeface="IntegralCF-Regular"/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Data wrangling and manipulation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marR="0" lvl="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2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626B7C-294E-ADAB-ED24-2D4288C5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289"/>
            <a:ext cx="10515600" cy="1325563"/>
          </a:xfrm>
        </p:spPr>
        <p:txBody>
          <a:bodyPr/>
          <a:lstStyle/>
          <a:p>
            <a:pPr algn="ctr"/>
            <a:r>
              <a:rPr lang="en-GB" sz="4800" dirty="0">
                <a:solidFill>
                  <a:schemeClr val="accent4"/>
                </a:solidFill>
              </a:rPr>
              <a:t>How we use R for our research</a:t>
            </a:r>
            <a:endParaRPr lang="en-GB" b="1" dirty="0">
              <a:solidFill>
                <a:schemeClr val="accent4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E1D09-3BBA-E08C-457D-C75C3E6A3B4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1" y="524597"/>
            <a:ext cx="2943225" cy="73501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19BC96-5D28-37A6-491D-854F65533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" y="4653280"/>
            <a:ext cx="12190996" cy="220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6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CA1C-6779-9CBB-8FE2-7FAA1CA0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What is R and RStudio?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E6727CAA-A2F1-5840-A24E-1E281C304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303" y="877455"/>
            <a:ext cx="6584632" cy="51030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BB16C2-6D77-3F8B-3F74-E57DB59CDBE6}"/>
              </a:ext>
            </a:extLst>
          </p:cNvPr>
          <p:cNvSpPr txBox="1"/>
          <p:nvPr/>
        </p:nvSpPr>
        <p:spPr>
          <a:xfrm>
            <a:off x="676746" y="1641641"/>
            <a:ext cx="418401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‘a language and environment for statistical computing and graphics</a:t>
            </a:r>
            <a:r>
              <a:rPr lang="en-GB" sz="2200" dirty="0"/>
              <a:t>Points, lines or polygons’</a:t>
            </a:r>
          </a:p>
          <a:p>
            <a:endParaRPr lang="en-GB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‘an integrated development environment (IDE)’</a:t>
            </a:r>
          </a:p>
          <a:p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R is the underlying software, RStudio greatly improves usability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EA722-8AE9-5D3A-2544-1A41062A0E9F}"/>
              </a:ext>
            </a:extLst>
          </p:cNvPr>
          <p:cNvSpPr txBox="1"/>
          <p:nvPr/>
        </p:nvSpPr>
        <p:spPr>
          <a:xfrm>
            <a:off x="676746" y="5873115"/>
            <a:ext cx="610552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hlinkClick r:id="rId3"/>
              </a:rPr>
              <a:t>https://www.r-project.org/about.html</a:t>
            </a:r>
            <a:endParaRPr lang="en-GB" sz="2000" dirty="0"/>
          </a:p>
          <a:p>
            <a:r>
              <a:rPr lang="en-GB" sz="2000" dirty="0">
                <a:hlinkClick r:id="rId4"/>
              </a:rPr>
              <a:t>https://www.rstudio.com/products/rstudio/</a:t>
            </a: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382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57B0140-964D-A946-503C-02B69A68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4287140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Uses of R and RStudio?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F45E4D-0038-44B1-E5BA-939CD4062E18}"/>
              </a:ext>
            </a:extLst>
          </p:cNvPr>
          <p:cNvSpPr txBox="1">
            <a:spLocks/>
          </p:cNvSpPr>
          <p:nvPr/>
        </p:nvSpPr>
        <p:spPr>
          <a:xfrm>
            <a:off x="685166" y="2160589"/>
            <a:ext cx="4481919" cy="356073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/>
              <a:t>The uses of R are wide ranging</a:t>
            </a:r>
          </a:p>
          <a:p>
            <a:r>
              <a:rPr lang="en-GB" sz="2000"/>
              <a:t>Research</a:t>
            </a:r>
          </a:p>
          <a:p>
            <a:r>
              <a:rPr lang="en-GB" sz="2000"/>
              <a:t>Statistics, graphical visualisation, data wrangling and more</a:t>
            </a:r>
          </a:p>
          <a:p>
            <a:r>
              <a:rPr lang="en-GB" sz="2000"/>
              <a:t>IT</a:t>
            </a:r>
          </a:p>
          <a:p>
            <a:r>
              <a:rPr lang="en-GB" sz="2000"/>
              <a:t>Finance</a:t>
            </a:r>
          </a:p>
          <a:p>
            <a:r>
              <a:rPr lang="en-GB" sz="2000"/>
              <a:t>Social Media</a:t>
            </a:r>
          </a:p>
          <a:p>
            <a:r>
              <a:rPr lang="en-GB" sz="2000"/>
              <a:t>Healthcare</a:t>
            </a:r>
          </a:p>
          <a:p>
            <a:r>
              <a:rPr lang="en-GB" sz="2000"/>
              <a:t>Governmental Departments</a:t>
            </a:r>
            <a:endParaRPr lang="en-GB" sz="2000" dirty="0"/>
          </a:p>
        </p:txBody>
      </p:sp>
      <p:pic>
        <p:nvPicPr>
          <p:cNvPr id="11" name="Picture 10" descr="Logo, icon&#10;&#10;Description automatically generated">
            <a:extLst>
              <a:ext uri="{FF2B5EF4-FFF2-40B4-BE49-F238E27FC236}">
                <a16:creationId xmlns:a16="http://schemas.microsoft.com/office/drawing/2014/main" id="{F580ABC7-72BC-95CA-ED66-EB7B467BC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39" y="1567543"/>
            <a:ext cx="5694196" cy="44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2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705484-71A7-092D-CED3-1001B25E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Why use R?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49F4A5-06ED-0582-487B-EBFFC2A4434B}"/>
              </a:ext>
            </a:extLst>
          </p:cNvPr>
          <p:cNvSpPr txBox="1">
            <a:spLocks/>
          </p:cNvSpPr>
          <p:nvPr/>
        </p:nvSpPr>
        <p:spPr>
          <a:xfrm>
            <a:off x="685167" y="2160589"/>
            <a:ext cx="4656090" cy="356073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/>
              <a:t>Text-based, reproducible.</a:t>
            </a:r>
          </a:p>
          <a:p>
            <a:r>
              <a:rPr lang="en-GB" sz="2000"/>
              <a:t>Extensive, wide range of user-developed packages.</a:t>
            </a:r>
          </a:p>
          <a:p>
            <a:r>
              <a:rPr lang="en-GB" sz="2000"/>
              <a:t>Large &amp; active user community, so very easy to find support if you have difficulties.</a:t>
            </a:r>
          </a:p>
          <a:p>
            <a:r>
              <a:rPr lang="en-GB" sz="2000"/>
              <a:t>An industry standard for data science and statistics, so whether you want to get into academia or business, R is an important skill to have.</a:t>
            </a:r>
          </a:p>
          <a:p>
            <a:endParaRPr lang="en-GB" sz="2000" dirty="0"/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48EC848A-8C61-2515-B317-F47725859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47469"/>
            <a:ext cx="5074935" cy="39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3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19E135-DC0A-3D8F-A50B-B2599D02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What is R and RStudio?</a:t>
            </a:r>
            <a:br>
              <a:rPr lang="en-GB" sz="2800" dirty="0"/>
            </a:br>
            <a:r>
              <a:rPr lang="en-GB" sz="2200" dirty="0">
                <a:solidFill>
                  <a:schemeClr val="tx1"/>
                </a:solidFill>
              </a:rPr>
              <a:t>Packages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8902CC-C60C-36A9-C6B2-BDFF02F230AC}"/>
              </a:ext>
            </a:extLst>
          </p:cNvPr>
          <p:cNvSpPr txBox="1">
            <a:spLocks/>
          </p:cNvSpPr>
          <p:nvPr/>
        </p:nvSpPr>
        <p:spPr>
          <a:xfrm>
            <a:off x="625672" y="1648633"/>
            <a:ext cx="5470328" cy="356073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/>
              <a:t>As open-source software, there are a huge number of packages available through R</a:t>
            </a:r>
          </a:p>
          <a:p>
            <a:r>
              <a:rPr lang="en-GB" sz="2000"/>
              <a:t>Packages contain ready-made useful functions to help us code.</a:t>
            </a:r>
          </a:p>
          <a:p>
            <a:r>
              <a:rPr lang="en-US" sz="2000"/>
              <a:t>A very commonly used package is ‘tidyverse’</a:t>
            </a:r>
          </a:p>
          <a:p>
            <a:r>
              <a:rPr lang="en-US" sz="2000"/>
              <a:t>This combines several important packages, and is the main package we will use during the classes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6C1F9-F162-E6A6-5B90-FB689187318E}"/>
              </a:ext>
            </a:extLst>
          </p:cNvPr>
          <p:cNvSpPr txBox="1"/>
          <p:nvPr/>
        </p:nvSpPr>
        <p:spPr>
          <a:xfrm>
            <a:off x="468836" y="5775060"/>
            <a:ext cx="10491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https://support.rstudio.com/hc/en-us/articles/201057987-Quick-list-of-useful-R-packages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https://www.tidyverse.org/</a:t>
            </a:r>
            <a:endParaRPr lang="en-GB" dirty="0">
              <a:solidFill>
                <a:schemeClr val="accent2"/>
              </a:solidFill>
            </a:endParaRPr>
          </a:p>
          <a:p>
            <a:r>
              <a:rPr lang="en-GB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cheatsheets</a:t>
            </a:r>
            <a:r>
              <a:rPr lang="en-GB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/data-transformation.pdf at main · </a:t>
            </a:r>
            <a:r>
              <a:rPr lang="en-GB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rstudio</a:t>
            </a:r>
            <a:r>
              <a:rPr lang="en-GB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GB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cheatsheets</a:t>
            </a:r>
            <a:r>
              <a:rPr lang="en-GB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(github.com)</a:t>
            </a:r>
            <a:endParaRPr lang="en-GB" dirty="0">
              <a:solidFill>
                <a:schemeClr val="accent2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B44B4-5146-75B5-3673-7D60AA6266C4}"/>
              </a:ext>
            </a:extLst>
          </p:cNvPr>
          <p:cNvSpPr txBox="1"/>
          <p:nvPr/>
        </p:nvSpPr>
        <p:spPr>
          <a:xfrm>
            <a:off x="625672" y="5263104"/>
            <a:ext cx="443604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&gt; </a:t>
            </a:r>
            <a:r>
              <a:rPr lang="en-GB" b="0" i="0" dirty="0" err="1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install.packages</a:t>
            </a:r>
            <a:r>
              <a:rPr lang="en-GB" b="0" i="0" dirty="0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(‘</a:t>
            </a:r>
            <a:r>
              <a:rPr lang="en-GB" b="0" i="0" dirty="0" err="1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tidyverse</a:t>
            </a:r>
            <a:r>
              <a:rPr lang="en-GB" b="0" i="0" dirty="0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)</a:t>
            </a:r>
            <a:endParaRPr lang="en-GB" b="0" dirty="0">
              <a:solidFill>
                <a:schemeClr val="bg1"/>
              </a:solidFill>
              <a:effectLst/>
              <a:highlight>
                <a:srgbClr val="000000"/>
              </a:highlight>
              <a:latin typeface="Consolas" panose="020B0609020204030204" pitchFamily="49" charset="0"/>
            </a:endParaRP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52E5B8B-CEBE-CB5A-E1BF-6EE46F03DC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513" y="1279301"/>
            <a:ext cx="4424815" cy="39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37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FAC074-E945-74CE-BF58-AA38697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What is R and RStudio?</a:t>
            </a:r>
            <a:br>
              <a:rPr lang="en-GB" sz="2800" dirty="0"/>
            </a:br>
            <a:r>
              <a:rPr lang="en-GB" sz="2200" dirty="0">
                <a:solidFill>
                  <a:schemeClr val="tx1"/>
                </a:solidFill>
              </a:rPr>
              <a:t>When in doubt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4A61B6-DFD2-F584-10A8-4DE18C3BFA63}"/>
              </a:ext>
            </a:extLst>
          </p:cNvPr>
          <p:cNvSpPr txBox="1">
            <a:spLocks/>
          </p:cNvSpPr>
          <p:nvPr/>
        </p:nvSpPr>
        <p:spPr>
          <a:xfrm>
            <a:off x="685167" y="2160589"/>
            <a:ext cx="4656090" cy="356073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/>
              <a:t>The R environment can seem confusing at first, and the packages and functions overwhelming.</a:t>
            </a:r>
          </a:p>
          <a:p>
            <a:r>
              <a:rPr lang="en-GB" sz="2000"/>
              <a:t>A lot can be learned by playing around! Embrace mistakes.</a:t>
            </a:r>
          </a:p>
          <a:p>
            <a:r>
              <a:rPr lang="en-GB" sz="2000"/>
              <a:t>Whenever in doubt the help() function can be used</a:t>
            </a:r>
          </a:p>
          <a:p>
            <a:r>
              <a:rPr lang="en-GB" sz="2000"/>
              <a:t>Beyond that, search online! It’s unlikely you will be the first person to come across a particular issue</a:t>
            </a:r>
            <a:endParaRPr lang="en-GB" sz="2000" dirty="0"/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CA5D919A-B5F1-AF95-AF30-BD8AEE2CE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47469"/>
            <a:ext cx="5074935" cy="39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2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CE277AA-1532-4007-413A-D2E6EDF8C23C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R markdown Documents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DE2276E-02E8-C0BF-D23A-FE183E162870}"/>
              </a:ext>
            </a:extLst>
          </p:cNvPr>
          <p:cNvSpPr txBox="1">
            <a:spLocks/>
          </p:cNvSpPr>
          <p:nvPr/>
        </p:nvSpPr>
        <p:spPr>
          <a:xfrm>
            <a:off x="636836" y="1841665"/>
            <a:ext cx="4562323" cy="4269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Our workshops make use of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Rmarkdown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documents to store the code scripts.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Rmarkdown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documents are very useful, as they allows us to have hybrid code/text documents.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This allows us to do things like write explanations, describe and report our analyses, alongside the code used to conduct our analysis.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From a teaching perspective, it allows us to explain and describe what the code is doing, without cluttering the document with #comments.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We will guide you through R markdown as we introduce R studio.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CC6E56-F6D7-638D-020E-1CF8EC7A5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222" y="2044865"/>
            <a:ext cx="6255980" cy="276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B5BE5A-5706-A4A2-E297-CD5E6D30305B}"/>
              </a:ext>
            </a:extLst>
          </p:cNvPr>
          <p:cNvSpPr txBox="1">
            <a:spLocks/>
          </p:cNvSpPr>
          <p:nvPr/>
        </p:nvSpPr>
        <p:spPr>
          <a:xfrm>
            <a:off x="685167" y="1220098"/>
            <a:ext cx="5316138" cy="34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1200" dirty="0"/>
              <a:t>Projects and Working Directories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60F978-54DA-0AFD-9446-F70600988E47}"/>
              </a:ext>
            </a:extLst>
          </p:cNvPr>
          <p:cNvSpPr txBox="1">
            <a:spLocks/>
          </p:cNvSpPr>
          <p:nvPr/>
        </p:nvSpPr>
        <p:spPr>
          <a:xfrm>
            <a:off x="685166" y="1778850"/>
            <a:ext cx="6151063" cy="356073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Have a separate project for each data analysis.</a:t>
            </a:r>
          </a:p>
          <a:p>
            <a:r>
              <a:rPr lang="en-GB" sz="2000" dirty="0"/>
              <a:t>Creating separate folders for your raw data, your code documents, and your processed data within the project.</a:t>
            </a:r>
          </a:p>
          <a:p>
            <a:r>
              <a:rPr lang="en-GB" sz="2000" dirty="0"/>
              <a:t>When we use projects in R, it will help us control the working directory.</a:t>
            </a:r>
          </a:p>
          <a:p>
            <a:r>
              <a:rPr lang="en-GB" sz="2000" dirty="0"/>
              <a:t>If this seems scary, don’t worry! It took me a long time before I even paid attention to projects. But knowing about them will help you to organise your work flow/manage your data and where and when they are needed</a:t>
            </a:r>
          </a:p>
          <a:p>
            <a:r>
              <a:rPr lang="en-GB" sz="2000" dirty="0"/>
              <a:t>We will cover this within R studio – and revisit during the 2</a:t>
            </a:r>
            <a:r>
              <a:rPr lang="en-GB" sz="2000" baseline="30000" dirty="0"/>
              <a:t>nd</a:t>
            </a:r>
            <a:r>
              <a:rPr lang="en-GB" sz="2000" dirty="0"/>
              <a:t> session.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66380-B010-B1C8-81CE-10920D3A6DE8}"/>
              </a:ext>
            </a:extLst>
          </p:cNvPr>
          <p:cNvSpPr txBox="1"/>
          <p:nvPr/>
        </p:nvSpPr>
        <p:spPr>
          <a:xfrm>
            <a:off x="848975" y="5329244"/>
            <a:ext cx="98952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https://r4ds.hadley.nz/workflow-scripts.html</a:t>
            </a:r>
            <a:endParaRPr lang="en-GB" dirty="0"/>
          </a:p>
          <a:p>
            <a:r>
              <a:rPr lang="en-GB" dirty="0">
                <a:hlinkClick r:id="rId3"/>
              </a:rPr>
              <a:t>https://rstudio.github.io/cheatsheets/html/data-transformation.html?_gl=1*1j10rah*_ga*MTA3MzgzMTk5Ny4xNzU4MzE4Mjk1*_ga_2C0WZ1JHG0*czE3NTgzMTgyOTQkbzEkZzEkdDE3NTgzMTg0NDUkajEzJGwwJGgw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275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626B7C-294E-ADAB-ED24-2D4288C5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289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Let’s try it ourselves!</a:t>
            </a:r>
            <a:endParaRPr lang="en-GB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80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663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IntegralCF-Regular</vt:lpstr>
      <vt:lpstr>Lucida Console</vt:lpstr>
      <vt:lpstr>Source Sans Pro</vt:lpstr>
      <vt:lpstr>Trebuchet MS</vt:lpstr>
      <vt:lpstr>Wingdings</vt:lpstr>
      <vt:lpstr>Wingdings 3</vt:lpstr>
      <vt:lpstr>Office Theme</vt:lpstr>
      <vt:lpstr>GETTING STARTED WITH R FOR RESEARCH</vt:lpstr>
      <vt:lpstr>PowerPoint Presentation</vt:lpstr>
      <vt:lpstr>How we use R for our research</vt:lpstr>
      <vt:lpstr>What is R and RStudio?  </vt:lpstr>
      <vt:lpstr>Uses of R and RStudio?</vt:lpstr>
      <vt:lpstr>Why use R?</vt:lpstr>
      <vt:lpstr>What is R and RStudio? Packages  </vt:lpstr>
      <vt:lpstr>What is R and RStudio? When in doubt  </vt:lpstr>
      <vt:lpstr>PowerPoint Presentation</vt:lpstr>
      <vt:lpstr>PowerPoint Presentation</vt:lpstr>
      <vt:lpstr>Let’s try it ourselves!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Crest</dc:creator>
  <cp:lastModifiedBy>Alex Crest</cp:lastModifiedBy>
  <cp:revision>1</cp:revision>
  <dcterms:created xsi:type="dcterms:W3CDTF">2026-09-14T11:04:20Z</dcterms:created>
  <dcterms:modified xsi:type="dcterms:W3CDTF">2026-09-14T11:25:33Z</dcterms:modified>
</cp:coreProperties>
</file>